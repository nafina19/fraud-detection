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t fraude" id="{6612ffaa-8a26-0c90-e0f1-d0aeaef26682}">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accent1"/>
          </a:solidFill>
          <a:ln/>
        </p:spPr>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1463040"/>
          </a:xfrm>
          <a:prstGeom prst="rect">
            <a:avLst/>
          </a:prstGeom>
          <a:noFill/>
          <a:ln/>
        </p:spPr>
        <p:txBody>
          <a:bodyPr wrap="square" lIns="0" tIns="0" rIns="0" bIns="0" rtlCol="0" anchor="ctr"/>
          <a:lstStyle/>
          <a:p>
            <a:pPr indent="0" marL="0">
              <a:buNone/>
            </a:pPr>
            <a:r>
              <a:rPr lang="en-US" sz="3800" b="1" dirty="0">
                <a:solidFill>
                  <a:schemeClr val="bg1"/>
                </a:solidFill>
                <a:latin typeface="Calibri" pitchFamily="34" charset="0"/>
                <a:ea typeface="Calibri" pitchFamily="34" charset="-122"/>
                <a:cs typeface="Calibri" pitchFamily="34" charset="-120"/>
              </a:rPr>
              <a:t>Détecter la fraude bancaire</a:t>
            </a:r>
            <a:endParaRPr lang="en-US" sz="3800" dirty="0"/>
          </a:p>
          <a:p>
            <a:pPr indent="0" marL="0">
              <a:buNone/>
            </a:pPr>
            <a:r>
              <a:rPr lang="en-US" sz="3800" b="1" dirty="0">
                <a:solidFill>
                  <a:schemeClr val="bg1"/>
                </a:solidFill>
                <a:latin typeface="Calibri" pitchFamily="34" charset="0"/>
                <a:ea typeface="Calibri" pitchFamily="34" charset="-122"/>
                <a:cs typeface="Calibri" pitchFamily="34" charset="-120"/>
              </a:rPr>
              <a:t>avec le machine learning</a:t>
            </a:r>
            <a:endParaRPr lang="en-US" sz="3800" dirty="0"/>
          </a:p>
        </p:txBody>
      </p:sp>
      <p:sp>
        <p:nvSpPr>
          <p:cNvPr id="3" name="Text 1"/>
          <p:cNvSpPr txBox="1"/>
          <p:nvPr/>
        </p:nvSpPr>
        <p:spPr>
          <a:xfrm>
            <a:off x="640080" y="2834640"/>
            <a:ext cx="7863840" cy="4572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Repérer les rares transactions frauduleuses sans bloquer les clients honnêtes</a:t>
            </a:r>
            <a:endParaRPr lang="en-US" sz="1800" dirty="0"/>
          </a:p>
        </p:txBody>
      </p:sp>
      <p:sp>
        <p:nvSpPr>
          <p:cNvPr id="4" name="Text 2"/>
          <p:cNvSpPr txBox="1"/>
          <p:nvPr/>
        </p:nvSpPr>
        <p:spPr>
          <a:xfrm>
            <a:off x="640080" y="4114800"/>
            <a:ext cx="786384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Projet data science · 284 807 transactions par carte bancaire sur 2 jours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Le défi : une aiguille dans une botte de foin</a:t>
            </a:r>
            <a:endParaRPr lang="en-US" sz="2600" dirty="0"/>
          </a:p>
        </p:txBody>
      </p:sp>
      <p:sp>
        <p:nvSpPr>
          <p:cNvPr id="3" name="stat0"/>
          <p:cNvSpPr/>
          <p:nvPr/>
        </p:nvSpPr>
        <p:spPr>
          <a:xfrm>
            <a:off x="457200" y="1188720"/>
            <a:ext cx="2560320" cy="1463040"/>
          </a:xfrm>
          <a:prstGeom prst="roundRect">
            <a:avLst>
              <a:gd name="adj" fmla="val 5000"/>
            </a:avLst>
          </a:prstGeom>
          <a:solidFill>
            <a:schemeClr val="accent6"/>
          </a:solidFill>
          <a:ln w="12700">
            <a:solidFill>
              <a:schemeClr val="accent6"/>
            </a:solidFill>
            <a:prstDash val="solid"/>
          </a:ln>
        </p:spPr>
      </p:sp>
      <p:sp>
        <p:nvSpPr>
          <p:cNvPr id="4" name="Text 2"/>
          <p:cNvSpPr txBox="1"/>
          <p:nvPr/>
        </p:nvSpPr>
        <p:spPr>
          <a:xfrm>
            <a:off x="457200" y="1325880"/>
            <a:ext cx="2560320" cy="731520"/>
          </a:xfrm>
          <a:prstGeom prst="rect">
            <a:avLst/>
          </a:prstGeom>
          <a:noFill/>
          <a:ln/>
        </p:spPr>
        <p:txBody>
          <a:bodyPr wrap="square" lIns="0" tIns="0" rIns="0" bIns="0" rtlCol="0" anchor="ctr"/>
          <a:lstStyle/>
          <a:p>
            <a:pPr algn="ctr" indent="0" marL="0">
              <a:buNone/>
            </a:pPr>
            <a:r>
              <a:rPr lang="en-US" sz="3800" b="1" dirty="0">
                <a:solidFill>
                  <a:schemeClr val="bg1"/>
                </a:solidFill>
                <a:latin typeface="Calibri" pitchFamily="34" charset="0"/>
                <a:ea typeface="Calibri" pitchFamily="34" charset="-122"/>
                <a:cs typeface="Calibri" pitchFamily="34" charset="-120"/>
              </a:rPr>
              <a:t>284 807</a:t>
            </a:r>
            <a:endParaRPr lang="en-US" sz="3800" dirty="0"/>
          </a:p>
        </p:txBody>
      </p:sp>
      <p:sp>
        <p:nvSpPr>
          <p:cNvPr id="5" name="Text 3"/>
          <p:cNvSpPr txBox="1"/>
          <p:nvPr/>
        </p:nvSpPr>
        <p:spPr>
          <a:xfrm>
            <a:off x="594360" y="2057400"/>
            <a:ext cx="2286000" cy="4572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transactions analysées</a:t>
            </a:r>
            <a:endParaRPr lang="en-US" sz="1300" dirty="0"/>
          </a:p>
        </p:txBody>
      </p:sp>
      <p:sp>
        <p:nvSpPr>
          <p:cNvPr id="6" name="stat1"/>
          <p:cNvSpPr/>
          <p:nvPr/>
        </p:nvSpPr>
        <p:spPr>
          <a:xfrm>
            <a:off x="3291840" y="1188720"/>
            <a:ext cx="2560320" cy="1463040"/>
          </a:xfrm>
          <a:prstGeom prst="roundRect">
            <a:avLst>
              <a:gd name="adj" fmla="val 5000"/>
            </a:avLst>
          </a:prstGeom>
          <a:solidFill>
            <a:schemeClr val="accent2"/>
          </a:solidFill>
          <a:ln w="12700">
            <a:solidFill>
              <a:schemeClr val="accent2"/>
            </a:solidFill>
            <a:prstDash val="solid"/>
          </a:ln>
        </p:spPr>
      </p:sp>
      <p:sp>
        <p:nvSpPr>
          <p:cNvPr id="7" name="Text 5"/>
          <p:cNvSpPr txBox="1"/>
          <p:nvPr/>
        </p:nvSpPr>
        <p:spPr>
          <a:xfrm>
            <a:off x="3291840" y="1325880"/>
            <a:ext cx="2560320" cy="731520"/>
          </a:xfrm>
          <a:prstGeom prst="rect">
            <a:avLst/>
          </a:prstGeom>
          <a:noFill/>
          <a:ln/>
        </p:spPr>
        <p:txBody>
          <a:bodyPr wrap="square" lIns="0" tIns="0" rIns="0" bIns="0" rtlCol="0" anchor="ctr"/>
          <a:lstStyle/>
          <a:p>
            <a:pPr algn="ctr" indent="0" marL="0">
              <a:buNone/>
            </a:pPr>
            <a:r>
              <a:rPr lang="en-US" sz="3800" b="1" dirty="0">
                <a:solidFill>
                  <a:schemeClr val="bg1"/>
                </a:solidFill>
                <a:latin typeface="Calibri" pitchFamily="34" charset="0"/>
                <a:ea typeface="Calibri" pitchFamily="34" charset="-122"/>
                <a:cs typeface="Calibri" pitchFamily="34" charset="-120"/>
              </a:rPr>
              <a:t>492</a:t>
            </a:r>
            <a:endParaRPr lang="en-US" sz="3800" dirty="0"/>
          </a:p>
        </p:txBody>
      </p:sp>
      <p:sp>
        <p:nvSpPr>
          <p:cNvPr id="8" name="Text 6"/>
          <p:cNvSpPr txBox="1"/>
          <p:nvPr/>
        </p:nvSpPr>
        <p:spPr>
          <a:xfrm>
            <a:off x="3429000" y="2057400"/>
            <a:ext cx="2286000" cy="4572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fraudes seulement</a:t>
            </a:r>
            <a:endParaRPr lang="en-US" sz="1300" dirty="0"/>
          </a:p>
        </p:txBody>
      </p:sp>
      <p:sp>
        <p:nvSpPr>
          <p:cNvPr id="9" name="stat2"/>
          <p:cNvSpPr/>
          <p:nvPr/>
        </p:nvSpPr>
        <p:spPr>
          <a:xfrm>
            <a:off x="6126480" y="1188720"/>
            <a:ext cx="2560320" cy="1463040"/>
          </a:xfrm>
          <a:prstGeom prst="roundRect">
            <a:avLst>
              <a:gd name="adj" fmla="val 5000"/>
            </a:avLst>
          </a:prstGeom>
          <a:solidFill>
            <a:schemeClr val="accent1"/>
          </a:solidFill>
          <a:ln w="12700">
            <a:solidFill>
              <a:schemeClr val="accent1"/>
            </a:solidFill>
            <a:prstDash val="solid"/>
          </a:ln>
        </p:spPr>
      </p:sp>
      <p:sp>
        <p:nvSpPr>
          <p:cNvPr id="10" name="Text 8"/>
          <p:cNvSpPr txBox="1"/>
          <p:nvPr/>
        </p:nvSpPr>
        <p:spPr>
          <a:xfrm>
            <a:off x="6126480" y="1325880"/>
            <a:ext cx="2560320" cy="731520"/>
          </a:xfrm>
          <a:prstGeom prst="rect">
            <a:avLst/>
          </a:prstGeom>
          <a:noFill/>
          <a:ln/>
        </p:spPr>
        <p:txBody>
          <a:bodyPr wrap="square" lIns="0" tIns="0" rIns="0" bIns="0" rtlCol="0" anchor="ctr"/>
          <a:lstStyle/>
          <a:p>
            <a:pPr algn="ctr" indent="0" marL="0">
              <a:buNone/>
            </a:pPr>
            <a:r>
              <a:rPr lang="en-US" sz="3800" b="1" dirty="0">
                <a:solidFill>
                  <a:schemeClr val="bg1"/>
                </a:solidFill>
                <a:latin typeface="Calibri" pitchFamily="34" charset="0"/>
                <a:ea typeface="Calibri" pitchFamily="34" charset="-122"/>
                <a:cs typeface="Calibri" pitchFamily="34" charset="-120"/>
              </a:rPr>
              <a:t>0,17 %</a:t>
            </a:r>
            <a:endParaRPr lang="en-US" sz="3800" dirty="0"/>
          </a:p>
        </p:txBody>
      </p:sp>
      <p:sp>
        <p:nvSpPr>
          <p:cNvPr id="11" name="Text 9"/>
          <p:cNvSpPr txBox="1"/>
          <p:nvPr/>
        </p:nvSpPr>
        <p:spPr>
          <a:xfrm>
            <a:off x="6263640" y="2057400"/>
            <a:ext cx="2286000" cy="4572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des transactions sont frauduleuses</a:t>
            </a:r>
            <a:endParaRPr lang="en-US" sz="1300" dirty="0"/>
          </a:p>
        </p:txBody>
      </p:sp>
      <p:sp>
        <p:nvSpPr>
          <p:cNvPr id="12" name="Text 10"/>
          <p:cNvSpPr txBox="1"/>
          <p:nvPr/>
        </p:nvSpPr>
        <p:spPr>
          <a:xfrm>
            <a:off x="457200" y="2926080"/>
            <a:ext cx="8229600" cy="1737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Pourquoi c'est difficile ? </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Un « modèle » qui répondrait toujours « normale » aurait 99,8 % de bonnes réponses… et ne détecterait aucune fraude.</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On ne juge donc pas la réussite globale, mais deux questions : parmi les fraudes, combien en détecte-t-on (rappel) ? Parmi les alertes, combien sont de vraies fraudes (précision) ?</a:t>
            </a:r>
            <a:endParaRPr lang="en-US" sz="150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Les données</a:t>
            </a:r>
            <a:endParaRPr lang="en-US" sz="2600" dirty="0"/>
          </a:p>
        </p:txBody>
      </p:sp>
      <p:sp>
        <p:nvSpPr>
          <p:cNvPr id="3" name="colonnes"/>
          <p:cNvSpPr/>
          <p:nvPr/>
        </p:nvSpPr>
        <p:spPr>
          <a:xfrm>
            <a:off x="457200" y="1188720"/>
            <a:ext cx="4023360" cy="3291840"/>
          </a:xfrm>
          <a:prstGeom prst="roundRect">
            <a:avLst>
              <a:gd name="adj" fmla="val 2222"/>
            </a:avLst>
          </a:prstGeom>
          <a:solidFill>
            <a:schemeClr val="bg2"/>
          </a:solidFill>
          <a:ln w="12700">
            <a:solidFill>
              <a:schemeClr val="bg2"/>
            </a:solidFill>
            <a:prstDash val="solid"/>
          </a:ln>
        </p:spPr>
      </p:sp>
      <p:sp>
        <p:nvSpPr>
          <p:cNvPr id="4" name="qualite"/>
          <p:cNvSpPr/>
          <p:nvPr/>
        </p:nvSpPr>
        <p:spPr>
          <a:xfrm>
            <a:off x="4663440" y="1188720"/>
            <a:ext cx="4023360" cy="3291840"/>
          </a:xfrm>
          <a:prstGeom prst="roundRect">
            <a:avLst>
              <a:gd name="adj" fmla="val 2222"/>
            </a:avLst>
          </a:prstGeom>
          <a:solidFill>
            <a:schemeClr val="bg2"/>
          </a:solidFill>
          <a:ln w="12700">
            <a:solidFill>
              <a:schemeClr val="bg2"/>
            </a:solidFill>
            <a:prstDash val="solid"/>
          </a:ln>
        </p:spPr>
      </p:sp>
      <p:sp>
        <p:nvSpPr>
          <p:cNvPr id="5" name="Text 3"/>
          <p:cNvSpPr txBox="1"/>
          <p:nvPr/>
        </p:nvSpPr>
        <p:spPr>
          <a:xfrm>
            <a:off x="640080" y="1371600"/>
            <a:ext cx="3657600" cy="301752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latin typeface="Calibri" pitchFamily="34" charset="0"/>
                <a:ea typeface="Calibri" pitchFamily="34" charset="-122"/>
                <a:cs typeface="Calibri" pitchFamily="34" charset="-120"/>
              </a:rPr>
              <a:t>Ce que contient chaque transaction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Time : secondes écoulées depuis la 1re transaction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Amount : montant de la transaction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V1 à V28 : variables anonymisées par le fournisseur (confidentialité), non interprétables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Class : 1 = fraude, 0 = normale (ce qu'on cherche à prédire)</a:t>
            </a:r>
            <a:endParaRPr lang="en-US" sz="1300" dirty="0"/>
          </a:p>
        </p:txBody>
      </p:sp>
      <p:sp>
        <p:nvSpPr>
          <p:cNvPr id="6" name="Text 4"/>
          <p:cNvSpPr txBox="1"/>
          <p:nvPr/>
        </p:nvSpPr>
        <p:spPr>
          <a:xfrm>
            <a:off x="4846320" y="1371600"/>
            <a:ext cx="3657600" cy="301752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latin typeface="Calibri" pitchFamily="34" charset="0"/>
                <a:ea typeface="Calibri" pitchFamily="34" charset="-122"/>
                <a:cs typeface="Calibri" pitchFamily="34" charset="-120"/>
              </a:rPr>
              <a:t>Qualité et limites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Aucune valeur manquante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1 081 doublons exacts, dont 19 fraudes : conservés, puis testés à part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Seulement 2 jours de données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492 fraudes : peu pour estimer finement les performances</a:t>
            </a:r>
            <a:endParaRPr lang="en-US" sz="130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Ce que l'exploration a montré</a:t>
            </a:r>
            <a:endParaRPr lang="en-US" sz="2600" dirty="0"/>
          </a:p>
        </p:txBody>
      </p:sp>
      <p:sp>
        <p:nvSpPr>
          <p:cNvPr id="3" name="carte0"/>
          <p:cNvSpPr/>
          <p:nvPr/>
        </p:nvSpPr>
        <p:spPr>
          <a:xfrm>
            <a:off x="457200" y="1188720"/>
            <a:ext cx="2560320" cy="3383280"/>
          </a:xfrm>
          <a:prstGeom prst="roundRect">
            <a:avLst>
              <a:gd name="adj" fmla="val 2857"/>
            </a:avLst>
          </a:prstGeom>
          <a:solidFill>
            <a:schemeClr val="bg2"/>
          </a:solidFill>
          <a:ln w="12700">
            <a:solidFill>
              <a:schemeClr val="bg2"/>
            </a:solidFill>
            <a:prstDash val="solid"/>
          </a:ln>
        </p:spPr>
      </p:sp>
      <p:sp>
        <p:nvSpPr>
          <p:cNvPr id="4" name="entete0"/>
          <p:cNvSpPr/>
          <p:nvPr/>
        </p:nvSpPr>
        <p:spPr>
          <a:xfrm>
            <a:off x="457200" y="1188720"/>
            <a:ext cx="2560320" cy="502920"/>
          </a:xfrm>
          <a:prstGeom prst="roundRect">
            <a:avLst>
              <a:gd name="adj" fmla="val 14545"/>
            </a:avLst>
          </a:prstGeom>
          <a:solidFill>
            <a:schemeClr val="accent1"/>
          </a:solidFill>
          <a:ln w="12700">
            <a:solidFill>
              <a:schemeClr val="accent1"/>
            </a:solidFill>
            <a:prstDash val="solid"/>
          </a:ln>
        </p:spPr>
      </p:sp>
      <p:sp>
        <p:nvSpPr>
          <p:cNvPr id="5" name="Text 3"/>
          <p:cNvSpPr txBox="1"/>
          <p:nvPr/>
        </p:nvSpPr>
        <p:spPr>
          <a:xfrm>
            <a:off x="457200" y="1188720"/>
            <a:ext cx="25603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Le montant</a:t>
            </a:r>
            <a:endParaRPr lang="en-US" sz="1600" dirty="0"/>
          </a:p>
        </p:txBody>
      </p:sp>
      <p:sp>
        <p:nvSpPr>
          <p:cNvPr id="6" name="Text 4"/>
          <p:cNvSpPr txBox="1"/>
          <p:nvPr/>
        </p:nvSpPr>
        <p:spPr>
          <a:xfrm>
            <a:off x="594360" y="1828800"/>
            <a:ext cx="2286000" cy="26517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Les fraudes ont plus souvent de très petits montants : 37 % d'entre elles sont inférieures ou égales à 1, contre 11 % des transactions normales (médiane d'environ 9 contre 22). Le montant seul ne suffit pas : les distributions se chevauchent beaucoup.</a:t>
            </a:r>
            <a:endParaRPr lang="en-US" sz="1250" dirty="0"/>
          </a:p>
        </p:txBody>
      </p:sp>
      <p:sp>
        <p:nvSpPr>
          <p:cNvPr id="7" name="carte1"/>
          <p:cNvSpPr/>
          <p:nvPr/>
        </p:nvSpPr>
        <p:spPr>
          <a:xfrm>
            <a:off x="3291840" y="1188720"/>
            <a:ext cx="2560320" cy="3383280"/>
          </a:xfrm>
          <a:prstGeom prst="roundRect">
            <a:avLst>
              <a:gd name="adj" fmla="val 2857"/>
            </a:avLst>
          </a:prstGeom>
          <a:solidFill>
            <a:schemeClr val="bg2"/>
          </a:solidFill>
          <a:ln w="12700">
            <a:solidFill>
              <a:schemeClr val="bg2"/>
            </a:solidFill>
            <a:prstDash val="solid"/>
          </a:ln>
        </p:spPr>
      </p:sp>
      <p:sp>
        <p:nvSpPr>
          <p:cNvPr id="8" name="entete1"/>
          <p:cNvSpPr/>
          <p:nvPr/>
        </p:nvSpPr>
        <p:spPr>
          <a:xfrm>
            <a:off x="3291840" y="1188720"/>
            <a:ext cx="2560320" cy="502920"/>
          </a:xfrm>
          <a:prstGeom prst="roundRect">
            <a:avLst>
              <a:gd name="adj" fmla="val 14545"/>
            </a:avLst>
          </a:prstGeom>
          <a:solidFill>
            <a:schemeClr val="accent2"/>
          </a:solidFill>
          <a:ln w="12700">
            <a:solidFill>
              <a:schemeClr val="accent2"/>
            </a:solidFill>
            <a:prstDash val="solid"/>
          </a:ln>
        </p:spPr>
      </p:sp>
      <p:sp>
        <p:nvSpPr>
          <p:cNvPr id="9" name="Text 7"/>
          <p:cNvSpPr txBox="1"/>
          <p:nvPr/>
        </p:nvSpPr>
        <p:spPr>
          <a:xfrm>
            <a:off x="3291840" y="1188720"/>
            <a:ext cx="25603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L'heure</a:t>
            </a:r>
            <a:endParaRPr lang="en-US" sz="1600" dirty="0"/>
          </a:p>
        </p:txBody>
      </p:sp>
      <p:sp>
        <p:nvSpPr>
          <p:cNvPr id="10" name="Text 8"/>
          <p:cNvSpPr txBox="1"/>
          <p:nvPr/>
        </p:nvSpPr>
        <p:spPr>
          <a:xfrm>
            <a:off x="3429000" y="1828800"/>
            <a:ext cx="2286000" cy="26517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Le taux de fraude monte la nuit : jusqu'à environ 10 fois la moyenne à l'heure 2, un pic retrouvé les deux jours. Les heures 1 à 7 concentrent 30,5 % des fraudes pour 9,7 % des transactions, mais les autres pics varient d'un jour à l'autre. Hypothèse : Time = 0 correspond à minuit.</a:t>
            </a:r>
            <a:endParaRPr lang="en-US" sz="1250" dirty="0"/>
          </a:p>
        </p:txBody>
      </p:sp>
      <p:sp>
        <p:nvSpPr>
          <p:cNvPr id="11" name="carte2"/>
          <p:cNvSpPr/>
          <p:nvPr/>
        </p:nvSpPr>
        <p:spPr>
          <a:xfrm>
            <a:off x="6126480" y="1188720"/>
            <a:ext cx="2560320" cy="3383280"/>
          </a:xfrm>
          <a:prstGeom prst="roundRect">
            <a:avLst>
              <a:gd name="adj" fmla="val 2857"/>
            </a:avLst>
          </a:prstGeom>
          <a:solidFill>
            <a:schemeClr val="bg2"/>
          </a:solidFill>
          <a:ln w="12700">
            <a:solidFill>
              <a:schemeClr val="bg2"/>
            </a:solidFill>
            <a:prstDash val="solid"/>
          </a:ln>
        </p:spPr>
      </p:sp>
      <p:sp>
        <p:nvSpPr>
          <p:cNvPr id="12" name="entete2"/>
          <p:cNvSpPr/>
          <p:nvPr/>
        </p:nvSpPr>
        <p:spPr>
          <a:xfrm>
            <a:off x="6126480" y="1188720"/>
            <a:ext cx="2560320" cy="502920"/>
          </a:xfrm>
          <a:prstGeom prst="roundRect">
            <a:avLst>
              <a:gd name="adj" fmla="val 14545"/>
            </a:avLst>
          </a:prstGeom>
          <a:solidFill>
            <a:schemeClr val="accent6"/>
          </a:solidFill>
          <a:ln w="12700">
            <a:solidFill>
              <a:schemeClr val="accent6"/>
            </a:solidFill>
            <a:prstDash val="solid"/>
          </a:ln>
        </p:spPr>
      </p:sp>
      <p:sp>
        <p:nvSpPr>
          <p:cNvPr id="13" name="Text 11"/>
          <p:cNvSpPr txBox="1"/>
          <p:nvPr/>
        </p:nvSpPr>
        <p:spPr>
          <a:xfrm>
            <a:off x="6126480" y="1188720"/>
            <a:ext cx="25603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Les variables V</a:t>
            </a:r>
            <a:endParaRPr lang="en-US" sz="1600" dirty="0"/>
          </a:p>
        </p:txBody>
      </p:sp>
      <p:sp>
        <p:nvSpPr>
          <p:cNvPr id="14" name="Text 12"/>
          <p:cNvSpPr txBox="1"/>
          <p:nvPr/>
        </p:nvSpPr>
        <p:spPr>
          <a:xfrm>
            <a:off x="6263640" y="1828800"/>
            <a:ext cx="2286000" cy="26517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Plusieurs variables (V14, V4, V12, V11, V10, V3) séparent déjà fortement fraudes et transactions normales, même prises une par une. Elles sont toutes conservées pour les modèles.</a:t>
            </a:r>
            <a:endParaRPr lang="en-US" sz="125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La méthode, étape par étape</a:t>
            </a:r>
            <a:endParaRPr lang="en-US" sz="2600" dirty="0"/>
          </a:p>
        </p:txBody>
      </p:sp>
      <p:sp>
        <p:nvSpPr>
          <p:cNvPr id="3" name="num0"/>
          <p:cNvSpPr/>
          <p:nvPr/>
        </p:nvSpPr>
        <p:spPr>
          <a:xfrm>
            <a:off x="457200" y="1143000"/>
            <a:ext cx="411480" cy="411480"/>
          </a:xfrm>
          <a:prstGeom prst="ellipse">
            <a:avLst/>
          </a:prstGeom>
          <a:solidFill>
            <a:schemeClr val="accent1"/>
          </a:solidFill>
          <a:ln w="12700">
            <a:solidFill>
              <a:schemeClr val="accent1"/>
            </a:solidFill>
            <a:prstDash val="solid"/>
          </a:ln>
        </p:spPr>
      </p:sp>
      <p:sp>
        <p:nvSpPr>
          <p:cNvPr id="4" name="Text 2"/>
          <p:cNvSpPr txBox="1"/>
          <p:nvPr/>
        </p:nvSpPr>
        <p:spPr>
          <a:xfrm>
            <a:off x="457200" y="11430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051560" y="1097280"/>
            <a:ext cx="2194560" cy="5029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Préparer</a:t>
            </a:r>
            <a:endParaRPr lang="en-US" sz="1400" dirty="0"/>
          </a:p>
        </p:txBody>
      </p:sp>
      <p:sp>
        <p:nvSpPr>
          <p:cNvPr id="6" name="Text 4"/>
          <p:cNvSpPr txBox="1"/>
          <p:nvPr/>
        </p:nvSpPr>
        <p:spPr>
          <a:xfrm>
            <a:off x="3291840" y="1097280"/>
            <a:ext cx="5394960" cy="5029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Montant passé au logarithme (distribution plus lisible), heure encodée de façon cyclique, 28 variables V gardées.</a:t>
            </a:r>
            <a:endParaRPr lang="en-US" sz="1200" dirty="0"/>
          </a:p>
        </p:txBody>
      </p:sp>
      <p:sp>
        <p:nvSpPr>
          <p:cNvPr id="7" name="num1"/>
          <p:cNvSpPr/>
          <p:nvPr/>
        </p:nvSpPr>
        <p:spPr>
          <a:xfrm>
            <a:off x="457200" y="1764792"/>
            <a:ext cx="411480" cy="411480"/>
          </a:xfrm>
          <a:prstGeom prst="ellipse">
            <a:avLst/>
          </a:prstGeom>
          <a:solidFill>
            <a:schemeClr val="accent1"/>
          </a:solidFill>
          <a:ln w="12700">
            <a:solidFill>
              <a:schemeClr val="accent1"/>
            </a:solidFill>
            <a:prstDash val="solid"/>
          </a:ln>
        </p:spPr>
      </p:sp>
      <p:sp>
        <p:nvSpPr>
          <p:cNvPr id="8" name="Text 6"/>
          <p:cNvSpPr txBox="1"/>
          <p:nvPr/>
        </p:nvSpPr>
        <p:spPr>
          <a:xfrm>
            <a:off x="457200" y="176479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51560" y="1719072"/>
            <a:ext cx="2194560" cy="5029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Découper</a:t>
            </a:r>
            <a:endParaRPr lang="en-US" sz="1400" dirty="0"/>
          </a:p>
        </p:txBody>
      </p:sp>
      <p:sp>
        <p:nvSpPr>
          <p:cNvPr id="10" name="Text 8"/>
          <p:cNvSpPr txBox="1"/>
          <p:nvPr/>
        </p:nvSpPr>
        <p:spPr>
          <a:xfrm>
            <a:off x="3291840" y="1719072"/>
            <a:ext cx="5394960" cy="5029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60 % entraînement, 20 % validation, 20 % test, avec la même proportion de fraudes partout.</a:t>
            </a:r>
            <a:endParaRPr lang="en-US" sz="1200" dirty="0"/>
          </a:p>
        </p:txBody>
      </p:sp>
      <p:sp>
        <p:nvSpPr>
          <p:cNvPr id="11" name="num2"/>
          <p:cNvSpPr/>
          <p:nvPr/>
        </p:nvSpPr>
        <p:spPr>
          <a:xfrm>
            <a:off x="457200" y="2386584"/>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457200" y="2386584"/>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51560" y="2340864"/>
            <a:ext cx="2194560" cy="5029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Entraîner 4 modèles</a:t>
            </a:r>
            <a:endParaRPr lang="en-US" sz="1400" dirty="0"/>
          </a:p>
        </p:txBody>
      </p:sp>
      <p:sp>
        <p:nvSpPr>
          <p:cNvPr id="14" name="Text 12"/>
          <p:cNvSpPr txBox="1"/>
          <p:nvPr/>
        </p:nvSpPr>
        <p:spPr>
          <a:xfrm>
            <a:off x="3291840" y="2340864"/>
            <a:ext cx="5394960" cy="5029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Référence sans apprentissage, régression logistique, Random Forest, XGBoost.</a:t>
            </a:r>
            <a:endParaRPr lang="en-US" sz="1200" dirty="0"/>
          </a:p>
        </p:txBody>
      </p:sp>
      <p:sp>
        <p:nvSpPr>
          <p:cNvPr id="15" name="num3"/>
          <p:cNvSpPr/>
          <p:nvPr/>
        </p:nvSpPr>
        <p:spPr>
          <a:xfrm>
            <a:off x="457200" y="3008376"/>
            <a:ext cx="411480" cy="411480"/>
          </a:xfrm>
          <a:prstGeom prst="ellipse">
            <a:avLst/>
          </a:prstGeom>
          <a:solidFill>
            <a:schemeClr val="accent1"/>
          </a:solidFill>
          <a:ln w="12700">
            <a:solidFill>
              <a:schemeClr val="accent1"/>
            </a:solidFill>
            <a:prstDash val="solid"/>
          </a:ln>
        </p:spPr>
      </p:sp>
      <p:sp>
        <p:nvSpPr>
          <p:cNvPr id="16" name="Text 14"/>
          <p:cNvSpPr txBox="1"/>
          <p:nvPr/>
        </p:nvSpPr>
        <p:spPr>
          <a:xfrm>
            <a:off x="457200" y="3008376"/>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051560" y="2962656"/>
            <a:ext cx="2194560" cy="5029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Choisir le seuil</a:t>
            </a:r>
            <a:endParaRPr lang="en-US" sz="1400" dirty="0"/>
          </a:p>
        </p:txBody>
      </p:sp>
      <p:sp>
        <p:nvSpPr>
          <p:cNvPr id="18" name="Text 16"/>
          <p:cNvSpPr txBox="1"/>
          <p:nvPr/>
        </p:nvSpPr>
        <p:spPr>
          <a:xfrm>
            <a:off x="3291840" y="2962656"/>
            <a:ext cx="5394960" cy="5029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À partir de quelle probabilité déclenche-t-on une alerte ? Choisi sur la validation, par le F1 ou par un coût métier.</a:t>
            </a:r>
            <a:endParaRPr lang="en-US" sz="1200" dirty="0"/>
          </a:p>
        </p:txBody>
      </p:sp>
      <p:sp>
        <p:nvSpPr>
          <p:cNvPr id="19" name="num4"/>
          <p:cNvSpPr/>
          <p:nvPr/>
        </p:nvSpPr>
        <p:spPr>
          <a:xfrm>
            <a:off x="457200" y="3630168"/>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457200" y="363016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1051560" y="3584448"/>
            <a:ext cx="2194560" cy="5029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Évaluer une seule fois</a:t>
            </a:r>
            <a:endParaRPr lang="en-US" sz="1400" dirty="0"/>
          </a:p>
        </p:txBody>
      </p:sp>
      <p:sp>
        <p:nvSpPr>
          <p:cNvPr id="22" name="Text 20"/>
          <p:cNvSpPr txBox="1"/>
          <p:nvPr/>
        </p:nvSpPr>
        <p:spPr>
          <a:xfrm>
            <a:off x="3291840" y="3584448"/>
            <a:ext cx="5394960" cy="5029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Sur le jeu de test, jamais utilisé pour choisir : les résultats ne sont pas « triés sur le volet ».</a:t>
            </a:r>
            <a:endParaRPr lang="en-US" sz="1200" dirty="0"/>
          </a:p>
        </p:txBody>
      </p:sp>
      <p:sp>
        <p:nvSpPr>
          <p:cNvPr id="23" name="Text 21"/>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250" i="1" dirty="0">
                <a:solidFill>
                  <a:schemeClr val="accent5"/>
                </a:solidFill>
                <a:latin typeface="Calibri" pitchFamily="34" charset="0"/>
                <a:ea typeface="Calibri" pitchFamily="34" charset="-122"/>
                <a:cs typeface="Calibri" pitchFamily="34" charset="-120"/>
              </a:rPr>
              <a:t>Précision = parmi les alertes, part de vraies fraudes.   Rappel = parmi les fraudes, part détectée.</a:t>
            </a:r>
            <a:endParaRPr lang="en-US" sz="125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Résultats du meilleur modèle (XGBoost)</a:t>
            </a:r>
            <a:endParaRPr lang="en-US" sz="2600" dirty="0"/>
          </a:p>
        </p:txBody>
      </p:sp>
      <p:sp>
        <p:nvSpPr>
          <p:cNvPr id="3" name="res0"/>
          <p:cNvSpPr/>
          <p:nvPr/>
        </p:nvSpPr>
        <p:spPr>
          <a:xfrm>
            <a:off x="457200" y="1188720"/>
            <a:ext cx="2560320" cy="1554480"/>
          </a:xfrm>
          <a:prstGeom prst="roundRect">
            <a:avLst>
              <a:gd name="adj" fmla="val 4706"/>
            </a:avLst>
          </a:prstGeom>
          <a:solidFill>
            <a:schemeClr val="accent1"/>
          </a:solidFill>
          <a:ln w="12700">
            <a:solidFill>
              <a:schemeClr val="accent1"/>
            </a:solidFill>
            <a:prstDash val="solid"/>
          </a:ln>
        </p:spPr>
      </p:sp>
      <p:sp>
        <p:nvSpPr>
          <p:cNvPr id="4" name="Text 2"/>
          <p:cNvSpPr txBox="1"/>
          <p:nvPr/>
        </p:nvSpPr>
        <p:spPr>
          <a:xfrm>
            <a:off x="457200" y="1280160"/>
            <a:ext cx="2560320" cy="731520"/>
          </a:xfrm>
          <a:prstGeom prst="rect">
            <a:avLst/>
          </a:prstGeom>
          <a:noFill/>
          <a:ln/>
        </p:spPr>
        <p:txBody>
          <a:bodyPr wrap="square" lIns="0" tIns="0" rIns="0" bIns="0" rtlCol="0" anchor="ctr"/>
          <a:lstStyle/>
          <a:p>
            <a:pPr algn="ctr" indent="0" marL="0">
              <a:buNone/>
            </a:pPr>
            <a:r>
              <a:rPr lang="en-US" sz="3600" b="1" dirty="0">
                <a:solidFill>
                  <a:schemeClr val="bg1"/>
                </a:solidFill>
                <a:latin typeface="Calibri" pitchFamily="34" charset="0"/>
                <a:ea typeface="Calibri" pitchFamily="34" charset="-122"/>
                <a:cs typeface="Calibri" pitchFamily="34" charset="-120"/>
              </a:rPr>
              <a:t>76 / 98</a:t>
            </a:r>
            <a:endParaRPr lang="en-US" sz="3600" dirty="0"/>
          </a:p>
        </p:txBody>
      </p:sp>
      <p:sp>
        <p:nvSpPr>
          <p:cNvPr id="5" name="Text 3"/>
          <p:cNvSpPr txBox="1"/>
          <p:nvPr/>
        </p:nvSpPr>
        <p:spPr>
          <a:xfrm>
            <a:off x="594360" y="2011680"/>
            <a:ext cx="2286000" cy="640080"/>
          </a:xfrm>
          <a:prstGeom prst="rect">
            <a:avLst/>
          </a:prstGeom>
          <a:noFill/>
          <a:ln/>
        </p:spPr>
        <p:txBody>
          <a:bodyPr wrap="square" lIns="0" tIns="0" rIns="0" bIns="0" rtlCol="0" anchor="t"/>
          <a:lstStyle/>
          <a:p>
            <a:pPr algn="ctr" indent="0" marL="0">
              <a:buNone/>
            </a:pPr>
            <a:r>
              <a:rPr lang="en-US" sz="1250" dirty="0">
                <a:solidFill>
                  <a:schemeClr val="bg1"/>
                </a:solidFill>
                <a:latin typeface="Calibri" pitchFamily="34" charset="0"/>
                <a:ea typeface="Calibri" pitchFamily="34" charset="-122"/>
                <a:cs typeface="Calibri" pitchFamily="34" charset="-120"/>
              </a:rPr>
              <a:t>fraudes détectées</a:t>
            </a:r>
            <a:endParaRPr lang="en-US" sz="1250" dirty="0"/>
          </a:p>
          <a:p>
            <a:pPr algn="ctr" indent="0" marL="0">
              <a:buNone/>
            </a:pPr>
            <a:r>
              <a:rPr lang="en-US" sz="1250" dirty="0">
                <a:solidFill>
                  <a:schemeClr val="bg1"/>
                </a:solidFill>
                <a:latin typeface="Calibri" pitchFamily="34" charset="0"/>
                <a:ea typeface="Calibri" pitchFamily="34" charset="-122"/>
                <a:cs typeface="Calibri" pitchFamily="34" charset="-120"/>
              </a:rPr>
              <a:t>(rappel 78 %)</a:t>
            </a:r>
            <a:endParaRPr lang="en-US" sz="1250" dirty="0"/>
          </a:p>
        </p:txBody>
      </p:sp>
      <p:sp>
        <p:nvSpPr>
          <p:cNvPr id="6" name="res1"/>
          <p:cNvSpPr/>
          <p:nvPr/>
        </p:nvSpPr>
        <p:spPr>
          <a:xfrm>
            <a:off x="3291840" y="1188720"/>
            <a:ext cx="2560320" cy="1554480"/>
          </a:xfrm>
          <a:prstGeom prst="roundRect">
            <a:avLst>
              <a:gd name="adj" fmla="val 4706"/>
            </a:avLst>
          </a:prstGeom>
          <a:solidFill>
            <a:schemeClr val="accent2"/>
          </a:solidFill>
          <a:ln w="12700">
            <a:solidFill>
              <a:schemeClr val="accent2"/>
            </a:solidFill>
            <a:prstDash val="solid"/>
          </a:ln>
        </p:spPr>
      </p:sp>
      <p:sp>
        <p:nvSpPr>
          <p:cNvPr id="7" name="Text 5"/>
          <p:cNvSpPr txBox="1"/>
          <p:nvPr/>
        </p:nvSpPr>
        <p:spPr>
          <a:xfrm>
            <a:off x="3291840" y="1280160"/>
            <a:ext cx="2560320" cy="731520"/>
          </a:xfrm>
          <a:prstGeom prst="rect">
            <a:avLst/>
          </a:prstGeom>
          <a:noFill/>
          <a:ln/>
        </p:spPr>
        <p:txBody>
          <a:bodyPr wrap="square" lIns="0" tIns="0" rIns="0" bIns="0" rtlCol="0" anchor="ctr"/>
          <a:lstStyle/>
          <a:p>
            <a:pPr algn="ctr" indent="0" marL="0">
              <a:buNone/>
            </a:pPr>
            <a:r>
              <a:rPr lang="en-US" sz="3600" b="1" dirty="0">
                <a:solidFill>
                  <a:schemeClr val="bg1"/>
                </a:solidFill>
                <a:latin typeface="Calibri" pitchFamily="34" charset="0"/>
                <a:ea typeface="Calibri" pitchFamily="34" charset="-122"/>
                <a:cs typeface="Calibri" pitchFamily="34" charset="-120"/>
              </a:rPr>
              <a:t>88 %</a:t>
            </a:r>
            <a:endParaRPr lang="en-US" sz="3600" dirty="0"/>
          </a:p>
        </p:txBody>
      </p:sp>
      <p:sp>
        <p:nvSpPr>
          <p:cNvPr id="8" name="Text 6"/>
          <p:cNvSpPr txBox="1"/>
          <p:nvPr/>
        </p:nvSpPr>
        <p:spPr>
          <a:xfrm>
            <a:off x="3429000" y="2011680"/>
            <a:ext cx="2286000" cy="640080"/>
          </a:xfrm>
          <a:prstGeom prst="rect">
            <a:avLst/>
          </a:prstGeom>
          <a:noFill/>
          <a:ln/>
        </p:spPr>
        <p:txBody>
          <a:bodyPr wrap="square" lIns="0" tIns="0" rIns="0" bIns="0" rtlCol="0" anchor="t"/>
          <a:lstStyle/>
          <a:p>
            <a:pPr algn="ctr" indent="0" marL="0">
              <a:buNone/>
            </a:pPr>
            <a:r>
              <a:rPr lang="en-US" sz="1250" dirty="0">
                <a:solidFill>
                  <a:schemeClr val="bg1"/>
                </a:solidFill>
                <a:latin typeface="Calibri" pitchFamily="34" charset="0"/>
                <a:ea typeface="Calibri" pitchFamily="34" charset="-122"/>
                <a:cs typeface="Calibri" pitchFamily="34" charset="-120"/>
              </a:rPr>
              <a:t>des alertes sont de vraies fraudes (précision)</a:t>
            </a:r>
            <a:endParaRPr lang="en-US" sz="1250" dirty="0"/>
          </a:p>
        </p:txBody>
      </p:sp>
      <p:sp>
        <p:nvSpPr>
          <p:cNvPr id="9" name="res2"/>
          <p:cNvSpPr/>
          <p:nvPr/>
        </p:nvSpPr>
        <p:spPr>
          <a:xfrm>
            <a:off x="6126480" y="1188720"/>
            <a:ext cx="2560320" cy="1554480"/>
          </a:xfrm>
          <a:prstGeom prst="roundRect">
            <a:avLst>
              <a:gd name="adj" fmla="val 4706"/>
            </a:avLst>
          </a:prstGeom>
          <a:solidFill>
            <a:schemeClr val="accent6"/>
          </a:solidFill>
          <a:ln w="12700">
            <a:solidFill>
              <a:schemeClr val="accent6"/>
            </a:solidFill>
            <a:prstDash val="solid"/>
          </a:ln>
        </p:spPr>
      </p:sp>
      <p:sp>
        <p:nvSpPr>
          <p:cNvPr id="10" name="Text 8"/>
          <p:cNvSpPr txBox="1"/>
          <p:nvPr/>
        </p:nvSpPr>
        <p:spPr>
          <a:xfrm>
            <a:off x="6126480" y="1280160"/>
            <a:ext cx="2560320" cy="731520"/>
          </a:xfrm>
          <a:prstGeom prst="rect">
            <a:avLst/>
          </a:prstGeom>
          <a:noFill/>
          <a:ln/>
        </p:spPr>
        <p:txBody>
          <a:bodyPr wrap="square" lIns="0" tIns="0" rIns="0" bIns="0" rtlCol="0" anchor="ctr"/>
          <a:lstStyle/>
          <a:p>
            <a:pPr algn="ctr" indent="0" marL="0">
              <a:buNone/>
            </a:pPr>
            <a:r>
              <a:rPr lang="en-US" sz="3600" b="1" dirty="0">
                <a:solidFill>
                  <a:schemeClr val="bg1"/>
                </a:solidFill>
                <a:latin typeface="Calibri" pitchFamily="34" charset="0"/>
                <a:ea typeface="Calibri" pitchFamily="34" charset="-122"/>
                <a:cs typeface="Calibri" pitchFamily="34" charset="-120"/>
              </a:rPr>
              <a:t>0,86</a:t>
            </a:r>
            <a:endParaRPr lang="en-US" sz="3600" dirty="0"/>
          </a:p>
        </p:txBody>
      </p:sp>
      <p:sp>
        <p:nvSpPr>
          <p:cNvPr id="11" name="Text 9"/>
          <p:cNvSpPr txBox="1"/>
          <p:nvPr/>
        </p:nvSpPr>
        <p:spPr>
          <a:xfrm>
            <a:off x="6263640" y="2011680"/>
            <a:ext cx="2286000" cy="640080"/>
          </a:xfrm>
          <a:prstGeom prst="rect">
            <a:avLst/>
          </a:prstGeom>
          <a:noFill/>
          <a:ln/>
        </p:spPr>
        <p:txBody>
          <a:bodyPr wrap="square" lIns="0" tIns="0" rIns="0" bIns="0" rtlCol="0" anchor="t"/>
          <a:lstStyle/>
          <a:p>
            <a:pPr algn="ctr" indent="0" marL="0">
              <a:buNone/>
            </a:pPr>
            <a:r>
              <a:rPr lang="en-US" sz="1250" dirty="0">
                <a:solidFill>
                  <a:schemeClr val="bg1"/>
                </a:solidFill>
                <a:latin typeface="Calibri" pitchFamily="34" charset="0"/>
                <a:ea typeface="Calibri" pitchFamily="34" charset="-122"/>
                <a:cs typeface="Calibri" pitchFamily="34" charset="-120"/>
              </a:rPr>
              <a:t>AP (précision-rappel), contre 0,0017 pour le hasard</a:t>
            </a:r>
            <a:endParaRPr lang="en-US" sz="1250" dirty="0"/>
          </a:p>
        </p:txBody>
      </p:sp>
      <p:sp>
        <p:nvSpPr>
          <p:cNvPr id="12" name="Text 10"/>
          <p:cNvSpPr txBox="1"/>
          <p:nvPr/>
        </p:nvSpPr>
        <p:spPr>
          <a:xfrm>
            <a:off x="457200" y="2971800"/>
            <a:ext cx="8229600" cy="17373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Comment lire ces chiffres </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Au seuil choisi sur la validation, le modèle détecte 76 des 98 fraudes du jeu de test et ne déclenche que 10 fausses alertes. Les modèles d'arbres (XGBoost, Random Forest) sont nettement meilleurs que la régression logistique (AP 0,71) et indiscernables entre eux.</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accent1"/>
                </a:solidFill>
                <a:latin typeface="Calibri" pitchFamily="34" charset="0"/>
                <a:ea typeface="Calibri" pitchFamily="34" charset="-122"/>
                <a:cs typeface="Calibri" pitchFamily="34" charset="-120"/>
              </a:rPr>
              <a:t>Intérêt métier : </a:t>
            </a:r>
            <a:pPr indent="0" marL="0">
              <a:buNone/>
            </a:pPr>
            <a:r>
              <a:rPr lang="en-US" sz="1400" dirty="0">
                <a:solidFill>
                  <a:schemeClr val="tx1"/>
                </a:solidFill>
                <a:latin typeface="Calibri" pitchFamily="34" charset="0"/>
                <a:ea typeface="Calibri" pitchFamily="34" charset="-122"/>
                <a:cs typeface="Calibri" pitchFamily="34" charset="-120"/>
              </a:rPr>
              <a:t>en comptant le montant des fraudes manquées et un coût d'examen de 5 par alerte (hypothèse), le modèle réduit les pertes d'environ 75 % par rapport à l'absence de modèle.</a:t>
            </a:r>
            <a:endParaRPr lang="en-US" sz="140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libri" pitchFamily="34" charset="0"/>
                <a:ea typeface="Calibri" pitchFamily="34" charset="-122"/>
                <a:cs typeface="Calibri" pitchFamily="34" charset="-120"/>
              </a:rPr>
              <a:t>Limites et suite du projet</a:t>
            </a:r>
            <a:endParaRPr lang="en-US" sz="2600" dirty="0"/>
          </a:p>
        </p:txBody>
      </p:sp>
      <p:sp>
        <p:nvSpPr>
          <p:cNvPr id="3" name="limites"/>
          <p:cNvSpPr/>
          <p:nvPr/>
        </p:nvSpPr>
        <p:spPr>
          <a:xfrm>
            <a:off x="457200" y="1188720"/>
            <a:ext cx="4023360" cy="3383280"/>
          </a:xfrm>
          <a:prstGeom prst="roundRect">
            <a:avLst>
              <a:gd name="adj" fmla="val 2162"/>
            </a:avLst>
          </a:prstGeom>
          <a:solidFill>
            <a:schemeClr val="bg2"/>
          </a:solidFill>
          <a:ln w="12700">
            <a:solidFill>
              <a:schemeClr val="bg2"/>
            </a:solidFill>
            <a:prstDash val="solid"/>
          </a:ln>
        </p:spPr>
      </p:sp>
      <p:sp>
        <p:nvSpPr>
          <p:cNvPr id="4" name="suite"/>
          <p:cNvSpPr/>
          <p:nvPr/>
        </p:nvSpPr>
        <p:spPr>
          <a:xfrm>
            <a:off x="4663440" y="1188720"/>
            <a:ext cx="4023360" cy="3383280"/>
          </a:xfrm>
          <a:prstGeom prst="roundRect">
            <a:avLst>
              <a:gd name="adj" fmla="val 2162"/>
            </a:avLst>
          </a:prstGeom>
          <a:solidFill>
            <a:schemeClr val="bg2"/>
          </a:solidFill>
          <a:ln w="12700">
            <a:solidFill>
              <a:schemeClr val="bg2"/>
            </a:solidFill>
            <a:prstDash val="solid"/>
          </a:ln>
        </p:spPr>
      </p:sp>
      <p:sp>
        <p:nvSpPr>
          <p:cNvPr id="5" name="Text 3"/>
          <p:cNvSpPr txBox="1"/>
          <p:nvPr/>
        </p:nvSpPr>
        <p:spPr>
          <a:xfrm>
            <a:off x="640080" y="1371600"/>
            <a:ext cx="3657600" cy="3108960"/>
          </a:xfrm>
          <a:prstGeom prst="rect">
            <a:avLst/>
          </a:prstGeom>
          <a:noFill/>
          <a:ln/>
        </p:spPr>
        <p:txBody>
          <a:bodyPr wrap="square" lIns="0" tIns="0" rIns="0" bIns="0" rtlCol="0" anchor="t"/>
          <a:lstStyle/>
          <a:p>
            <a:pPr indent="0" marL="0">
              <a:spcAft>
                <a:spcPts val="600"/>
              </a:spcAft>
              <a:buNone/>
            </a:pPr>
            <a:r>
              <a:rPr lang="en-US" sz="1300" b="1" dirty="0">
                <a:solidFill>
                  <a:schemeClr val="accent2"/>
                </a:solidFill>
                <a:latin typeface="Calibri" pitchFamily="34" charset="0"/>
                <a:ea typeface="Calibri" pitchFamily="34" charset="-122"/>
                <a:cs typeface="Calibri" pitchFamily="34" charset="-120"/>
              </a:rPr>
              <a:t>Limites à garder en tête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Peu de fraudes : de petits écarts entre modèles ne sont pas significatifs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Seulement 2 jours : rien ne garantit la généralisation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Variables anonymisées : on mesure leur poids, pas leur sens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Effet de l'heure instable d'un jour à l'autre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Coût d'une alerte : valeur supposée</a:t>
            </a:r>
            <a:endParaRPr lang="en-US" sz="1300" dirty="0"/>
          </a:p>
        </p:txBody>
      </p:sp>
      <p:sp>
        <p:nvSpPr>
          <p:cNvPr id="6" name="Text 4"/>
          <p:cNvSpPr txBox="1"/>
          <p:nvPr/>
        </p:nvSpPr>
        <p:spPr>
          <a:xfrm>
            <a:off x="4846320" y="1371600"/>
            <a:ext cx="3657600" cy="310896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latin typeface="Calibri" pitchFamily="34" charset="0"/>
                <a:ea typeface="Calibri" pitchFamily="34" charset="-122"/>
                <a:cs typeface="Calibri" pitchFamily="34" charset="-120"/>
              </a:rPr>
              <a:t>Pour aller plus loin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Régler les hyperparamètres des modèles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Choisir le seuil par validation croisée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Expliquer chaque décision (SHAP)</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Tableau de bord Power BI (export prêt)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Surveiller le modèle dans le temps (dérive, réentraînement)</a:t>
            </a:r>
            <a:endParaRPr lang="en-US" sz="1300" dirty="0"/>
          </a:p>
        </p:txBody>
      </p:sp>
      <p:sp>
        <p:nvSpPr>
          <p:cNvPr id="25" name="Slide Number Placeholder 0"/>
          <p:cNvSpPr>
            <a:spLocks noGrp="1"/>
          </p:cNvSpPr>
          <p:nvPr>
            <p:ph type="sldNum" sz="quarter" idx="4294967295"/>
          </p:nvPr>
        </p:nvSpPr>
        <p:spPr>
          <a:xfrm>
            <a:off x="832104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raude">
  <a:themeElements>
    <a:clrScheme name="Fraude">
      <a:dk1>
        <a:srgbClr val="1F2A44"/>
      </a:dk1>
      <a:lt1>
        <a:srgbClr val="FFFFFF"/>
      </a:lt1>
      <a:dk2>
        <a:srgbClr val="0F4C5C"/>
      </a:dk2>
      <a:lt2>
        <a:srgbClr val="EEF3F6"/>
      </a:lt2>
      <a:accent1>
        <a:srgbClr val="0F766E"/>
      </a:accent1>
      <a:accent2>
        <a:srgbClr val="E76F51"/>
      </a:accent2>
      <a:accent3>
        <a:srgbClr val="2A9D8F"/>
      </a:accent3>
      <a:accent4>
        <a:srgbClr val="F4A261"/>
      </a:accent4>
      <a:accent5>
        <a:srgbClr val="6C757D"/>
      </a:accent5>
      <a:accent6>
        <a:srgbClr val="264653"/>
      </a:accent6>
      <a:hlink>
        <a:srgbClr val="0F766E"/>
      </a:hlink>
      <a:folHlink>
        <a:srgbClr val="6C757D"/>
      </a:folHlink>
    </a:clrScheme>
    <a:fontScheme name="Fraud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2026-10-19T09:28:59Z</dcterms:created>
  <dcterms:modified xsi:type="dcterms:W3CDTF">2026-10-19T09:28:59Z</dcterms:modified>
</cp:coreProperties>
</file>